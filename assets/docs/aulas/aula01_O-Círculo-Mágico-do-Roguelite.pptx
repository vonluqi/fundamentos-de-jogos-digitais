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514350"/>
            <a:ext cx="79724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AULA 01 / TEORIA DO JOGO + GODOT + GDD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85788" y="932259"/>
            <a:ext cx="5429250" cy="151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3750" b="1" spc="-2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Círculo</a:t>
            </a:r>
            <a:r>
              <a:rPr lang="en-US" sz="3750" b="1" spc="-2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750" b="1" spc="-2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Mágico do</a:t>
            </a:r>
            <a:r>
              <a:rPr lang="en-US" sz="3750" b="1" spc="-2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750" b="1" spc="-2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Roguelite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85788" y="2687222"/>
            <a:ext cx="435768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Como regras, risco e sensação corporal transformam a morte em ritmo de aprendizagem.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788" y="3537328"/>
            <a:ext cx="79724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· GAME FEEL 2D · PLAYER FANTASY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543550" y="892969"/>
            <a:ext cx="2757488" cy="2757488"/>
          </a:xfrm>
          <a:prstGeom prst="ellipse">
            <a:avLst/>
          </a:prstGeom>
          <a:solidFill>
            <a:srgbClr val="000000">
              <a:alpha val="0"/>
            </a:srgbClr>
          </a:solidFill>
          <a:ln w="18288">
            <a:solidFill>
              <a:srgbClr val="A178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86638" y="3671888"/>
            <a:ext cx="614363" cy="614363"/>
          </a:xfrm>
          <a:prstGeom prst="ellipse">
            <a:avLst/>
          </a:prstGeom>
          <a:solidFill>
            <a:srgbClr val="000000">
              <a:alpha val="0"/>
            </a:srgbClr>
          </a:solidFill>
          <a:ln w="9144">
            <a:solidFill>
              <a:srgbClr val="64E1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39503" y="3681878"/>
            <a:ext cx="308632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ENTRAR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488045" y="3927556"/>
            <a:ext cx="41149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ARRISCAR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488045" y="4173345"/>
            <a:ext cx="411491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RETORNAR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 / PERGUNTA-GUIA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3856565" cy="816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8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 morte vira parte do jogo?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42925" y="1723318"/>
            <a:ext cx="3714750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Em um roguelite, a morte não precisa significar “fim”. Ela pode encerrar uma corrida, preservar o aprendizado e preparar o próximo retorno.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28127" y="1474738"/>
            <a:ext cx="3672948" cy="106296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algn="r" indent="0" marL="0">
              <a:lnSpc>
                <a:spcPct val="57600"/>
              </a:lnSpc>
              <a:buNone/>
            </a:pPr>
            <a:r>
              <a:rPr lang="en-US" sz="10450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0450" dirty="0"/>
          </a:p>
        </p:txBody>
      </p:sp>
      <p:sp>
        <p:nvSpPr>
          <p:cNvPr id="7" name="Text 4"/>
          <p:cNvSpPr/>
          <p:nvPr/>
        </p:nvSpPr>
        <p:spPr>
          <a:xfrm>
            <a:off x="542925" y="3144924"/>
            <a:ext cx="25003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 · O QUE TERMINA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42925" y="3402099"/>
            <a:ext cx="250031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corrida atual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2925" y="3669990"/>
            <a:ext cx="164306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Vida, recursos, build e mapa deixam de existir como estavam.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14713" y="3144924"/>
            <a:ext cx="23145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 · O QUE CONTINUA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414713" y="3402099"/>
            <a:ext cx="23145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aprendizado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14713" y="3669990"/>
            <a:ext cx="1643063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Conhecimento, desbloqueios e domínio alimentam a próxima tentativa.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00763" y="3144924"/>
            <a:ext cx="23145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03 · O QUE MUDA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6100763" y="3402099"/>
            <a:ext cx="231457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leitura de risco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00763" y="3669990"/>
            <a:ext cx="1643063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mesma sala volta como hipótese: “e se eu tentar diferente?”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2925" y="4720121"/>
            <a:ext cx="1214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OBJETIVO DA AULA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928813" y="4641540"/>
            <a:ext cx="600075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como regras, parâmetros físicos e fantasia de poder formam um mesmo sistema.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 — 12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14338"/>
            <a:ext cx="8229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 / TEORIA DO JOGO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57200" y="707231"/>
            <a:ext cx="6429375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Jogar é entrar em um mundo com regras próprias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85788" y="1658689"/>
            <a:ext cx="6729413" cy="780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Círculo Mágico: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um espaço de jogo separado, limitado e regido por convenções próprias. 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fronteira não é apenas espacial; ela também define o que conta como ação, erro, vitória 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consequência. [1]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695928"/>
            <a:ext cx="3429000" cy="21788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DENTRO DO CÍRCULO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42950" y="3013825"/>
            <a:ext cx="31432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Objetivos compreensíveis.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2950" y="3278144"/>
            <a:ext cx="3143250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Regras que restringem e dão significado.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2950" y="3735344"/>
            <a:ext cx="31432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Feedback que torna a ação legível.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2950" y="3013825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2950" y="3278144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2950" y="3735344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71950" y="2695928"/>
            <a:ext cx="3429000" cy="217884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FORA DO CÍRCULO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57700" y="3013825"/>
            <a:ext cx="31432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vida cotidiana.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457700" y="3278144"/>
            <a:ext cx="31432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sala de aula.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457700" y="3542463"/>
            <a:ext cx="3143250" cy="19288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editor e o código como ferramentas.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4171113"/>
            <a:ext cx="7143750" cy="628650"/>
          </a:xfrm>
          <a:prstGeom prst="rect">
            <a:avLst/>
          </a:prstGeom>
          <a:solidFill>
            <a:srgbClr val="A178FF">
              <a:alpha val="5000"/>
            </a:srgbClr>
          </a:solidFill>
          <a:ln w="9144">
            <a:solidFill>
              <a:srgbClr val="A178FF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57700" y="3013825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457700" y="3278144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57700" y="3542463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7225" y="4285413"/>
            <a:ext cx="67437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Leitura para jogos digitais:</a:t>
            </a:r>
            <a:r>
              <a:rPr lang="en-US" sz="95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entrar no jogo é aceitar temporariamente um contrato de </a:t>
            </a:r>
            <a:r>
              <a:rPr lang="en-US" sz="95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regras — e testar seus limites com segurança.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 — 12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03 / CICLO E PROGRESSÃO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5715000" cy="408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8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roguelite, a falha vira ritmo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542925" y="1415300"/>
            <a:ext cx="8058150" cy="700088"/>
          </a:xfrm>
          <a:prstGeom prst="rect">
            <a:avLst/>
          </a:prstGeom>
          <a:solidFill>
            <a:srgbClr val="A178FF">
              <a:alpha val="5000"/>
            </a:srgbClr>
          </a:solidFill>
          <a:ln w="9144">
            <a:solidFill>
              <a:srgbClr val="3846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1525" y="1586750"/>
            <a:ext cx="56072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71525" y="1761772"/>
            <a:ext cx="56072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719244" y="1642114"/>
            <a:ext cx="1029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465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09149" y="1586750"/>
            <a:ext cx="52361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209149" y="1761772"/>
            <a:ext cx="52361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Arriscar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19754" y="1642114"/>
            <a:ext cx="1029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465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09659" y="1586750"/>
            <a:ext cx="5555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03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609659" y="1761772"/>
            <a:ext cx="55559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52243" y="1642114"/>
            <a:ext cx="1029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465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42148" y="1586750"/>
            <a:ext cx="42042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04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042148" y="1761772"/>
            <a:ext cx="42042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49559" y="1642114"/>
            <a:ext cx="1029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465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39464" y="1586750"/>
            <a:ext cx="5926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05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339464" y="1761772"/>
            <a:ext cx="59265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9107" y="1642114"/>
            <a:ext cx="10291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4653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809012" y="1586750"/>
            <a:ext cx="5633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06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7809012" y="1761772"/>
            <a:ext cx="56335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Retornar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2925" y="2451143"/>
            <a:ext cx="1785938" cy="35718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CAMADA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2328863" y="2451143"/>
            <a:ext cx="3136106" cy="35718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PERGUNTA DE DESIGN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5464969" y="2451143"/>
            <a:ext cx="3136106" cy="35718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EXEMPLO DE CONSEQUÊNCIA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42925" y="2958350"/>
            <a:ext cx="16144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Corrida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328863" y="2958350"/>
            <a:ext cx="2964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que está em risco agora?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64969" y="2958350"/>
            <a:ext cx="2964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Vida, recursos, build e mapa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2925" y="3447697"/>
            <a:ext cx="16144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Meta-progressão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328863" y="3447697"/>
            <a:ext cx="2964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que alimenta o retorno?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64969" y="3447697"/>
            <a:ext cx="2964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Conhecimento, desbloqueios e domínio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2925" y="3937043"/>
            <a:ext cx="161448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Fantasia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328863" y="3937043"/>
            <a:ext cx="2964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Por que vale tentar outra vez?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464969" y="3937043"/>
            <a:ext cx="29646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promessa de voltar mais capaz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42925" y="4583553"/>
            <a:ext cx="6429375" cy="47997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morte permanente de uma corrida funciona quando o jogador entende a troca: </a:t>
            </a:r>
            <a:r>
              <a:rPr lang="en-US" sz="12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perder progresso local em troca de ganhar leitura do sistema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03 — 12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04 / DINÂMICA DO RISCO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tensão consentida depende de um acordo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42925" y="1658689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círculo mágico não elimina o risco; ele torna o risco </a:t>
            </a:r>
            <a:r>
              <a:rPr lang="en-US" sz="105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aceitável, legível e desejável</a:t>
            </a:r>
            <a:r>
              <a:rPr lang="en-US" sz="10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2925" y="2358777"/>
            <a:ext cx="249551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2925" y="2773114"/>
            <a:ext cx="249551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ENTENDER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2925" y="3012430"/>
            <a:ext cx="24955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jogador sabe qual decisão colocou a corrida em perigo. A causa da falha é clara.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324188" y="2358777"/>
            <a:ext cx="249556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324188" y="2773114"/>
            <a:ext cx="24955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ACEITAR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324188" y="3012430"/>
            <a:ext cx="24955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consequência parece coerente com as regras anunciadas pelo sistema.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05506" y="2358777"/>
            <a:ext cx="249556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105506" y="2773114"/>
            <a:ext cx="2495569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DESEJAR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05506" y="3012430"/>
            <a:ext cx="24955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retorno promete uma nova hipótese e experimentação, não apenas repetição.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2925" y="3583930"/>
            <a:ext cx="8058150" cy="1191555"/>
          </a:xfrm>
          <a:prstGeom prst="rect">
            <a:avLst/>
          </a:prstGeom>
          <a:solidFill>
            <a:srgbClr val="A178FF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42925" y="3583930"/>
            <a:ext cx="28575" cy="1191555"/>
          </a:xfrm>
          <a:prstGeom prst="rect">
            <a:avLst/>
          </a:prstGeom>
          <a:solidFill>
            <a:srgbClr val="A178FF"/>
          </a:solidFill>
          <a:ln/>
        </p:spPr>
      </p:sp>
      <p:sp>
        <p:nvSpPr>
          <p:cNvPr id="17" name="Text 14"/>
          <p:cNvSpPr/>
          <p:nvPr/>
        </p:nvSpPr>
        <p:spPr>
          <a:xfrm>
            <a:off x="828675" y="3812530"/>
            <a:ext cx="74866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TESTE DE MESA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828675" y="4026843"/>
            <a:ext cx="7486650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 a morte parece arbitrária, o círculo se rompe. Se a morte parece instrutiva, o jogador volta para testar uma nova estratégia."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04 — 12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05 / GAME FEEL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42862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4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Pequenos números criam grandes sensações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42925" y="1884499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Game Feel</a:t>
            </a: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é a sensação de envolvimento </a:t>
            </a: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produzida pela relação entre intenção, </a:t>
            </a: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controle em tempo real, espaço simulado e </a:t>
            </a: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feedback. [3]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2925" y="2941774"/>
            <a:ext cx="3429000" cy="1357313"/>
          </a:xfrm>
          <a:prstGeom prst="rect">
            <a:avLst/>
          </a:prstGeom>
          <a:solidFill>
            <a:srgbClr val="A178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2925" y="2941774"/>
            <a:ext cx="3429000" cy="7144"/>
          </a:xfrm>
          <a:prstGeom prst="rect">
            <a:avLst/>
          </a:prstGeom>
          <a:solidFill>
            <a:srgbClr val="384653"/>
          </a:solidFill>
          <a:ln/>
        </p:spPr>
      </p:sp>
      <p:sp>
        <p:nvSpPr>
          <p:cNvPr id="8" name="Shape 5"/>
          <p:cNvSpPr/>
          <p:nvPr/>
        </p:nvSpPr>
        <p:spPr>
          <a:xfrm>
            <a:off x="3964781" y="2941774"/>
            <a:ext cx="7144" cy="1357313"/>
          </a:xfrm>
          <a:prstGeom prst="rect">
            <a:avLst/>
          </a:prstGeom>
          <a:solidFill>
            <a:srgbClr val="384653"/>
          </a:solidFill>
          <a:ln/>
        </p:spPr>
      </p:sp>
      <p:sp>
        <p:nvSpPr>
          <p:cNvPr id="9" name="Shape 6"/>
          <p:cNvSpPr/>
          <p:nvPr/>
        </p:nvSpPr>
        <p:spPr>
          <a:xfrm>
            <a:off x="542925" y="4291943"/>
            <a:ext cx="3429000" cy="7144"/>
          </a:xfrm>
          <a:prstGeom prst="rect">
            <a:avLst/>
          </a:prstGeom>
          <a:solidFill>
            <a:srgbClr val="384653"/>
          </a:solidFill>
          <a:ln/>
        </p:spPr>
      </p:sp>
      <p:sp>
        <p:nvSpPr>
          <p:cNvPr id="10" name="Shape 7"/>
          <p:cNvSpPr/>
          <p:nvPr/>
        </p:nvSpPr>
        <p:spPr>
          <a:xfrm>
            <a:off x="542925" y="2941774"/>
            <a:ext cx="28575" cy="1357313"/>
          </a:xfrm>
          <a:prstGeom prst="rect">
            <a:avLst/>
          </a:prstGeom>
          <a:solidFill>
            <a:srgbClr val="A178FF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3113224"/>
            <a:ext cx="30861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vocabulário MDA [4]:</a:t>
            </a: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valor é </a:t>
            </a:r>
            <a:r>
              <a:rPr lang="en-US" sz="10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mecânica</a:t>
            </a: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movimento percebido é </a:t>
            </a:r>
            <a:r>
              <a:rPr lang="en-US" sz="10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</a:t>
            </a: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0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fantasia corporal é </a:t>
            </a:r>
            <a:r>
              <a:rPr lang="en-US" sz="10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estética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29113" y="1713049"/>
            <a:ext cx="22002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Aceleração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329113" y="1909502"/>
            <a:ext cx="22002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Resposta imediata ou preparação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329113" y="2098811"/>
            <a:ext cx="2200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“Meu corpo obedece ou antecipa?”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29113" y="2470286"/>
            <a:ext cx="22002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Velocidade máxima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329113" y="2666740"/>
            <a:ext cx="22002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Escala de agência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329113" y="2856049"/>
            <a:ext cx="2200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“Eu domino o espaço?”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329113" y="3227524"/>
            <a:ext cx="22002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Atrito / desaceleração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329113" y="3423977"/>
            <a:ext cx="22002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Precisão ou deslizamento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29113" y="3613286"/>
            <a:ext cx="2200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“Tenho peso ou flutuo?”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329113" y="3984761"/>
            <a:ext cx="220027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Gravidade / impulso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329113" y="4181215"/>
            <a:ext cx="22002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Queda, risco e recuperação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329113" y="4370524"/>
            <a:ext cx="22002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“O mundo me puxa ou me sustenta?”</a:t>
            </a:r>
            <a:endParaRPr lang="en-US" sz="7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166" y="1713049"/>
            <a:ext cx="1718909" cy="300037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05 — 12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06 / PRÁTICA NA GODOT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CharacterBody2D vira um laboratório controlável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42925" y="1611585"/>
            <a:ext cx="123877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Godot descreve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781696" y="1611585"/>
            <a:ext cx="1050131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7" name="Text 4"/>
          <p:cNvSpPr/>
          <p:nvPr/>
        </p:nvSpPr>
        <p:spPr>
          <a:xfrm>
            <a:off x="1781696" y="1611585"/>
            <a:ext cx="1050131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CharacterBody2D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831827" y="1611585"/>
            <a:ext cx="18216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como um corpo controlado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2925" y="1793751"/>
            <a:ext cx="37890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por código: detecta colisões, mas recebe gravidade 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2925" y="1975917"/>
            <a:ext cx="218598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atrito via sua própria lógica.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2236663"/>
            <a:ext cx="40576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Projeto-base da oficina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" y="2479551"/>
            <a:ext cx="1050131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479551"/>
            <a:ext cx="1050131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CharacterBody2D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" y="2701677"/>
            <a:ext cx="685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80132" y="2690961"/>
            <a:ext cx="1114425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16" name="Text 13"/>
          <p:cNvSpPr/>
          <p:nvPr/>
        </p:nvSpPr>
        <p:spPr>
          <a:xfrm>
            <a:off x="880132" y="2690961"/>
            <a:ext cx="1114425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CollisionShape2D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994557" y="2701677"/>
            <a:ext cx="150878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para o contato físico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5800" y="2913087"/>
            <a:ext cx="685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80132" y="2902372"/>
            <a:ext cx="600075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20" name="Text 17"/>
          <p:cNvSpPr/>
          <p:nvPr/>
        </p:nvSpPr>
        <p:spPr>
          <a:xfrm>
            <a:off x="880132" y="2902372"/>
            <a:ext cx="600075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Sprite2D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480207" y="2913087"/>
            <a:ext cx="15773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para a presença visual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85800" y="3124498"/>
            <a:ext cx="685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80132" y="3113782"/>
            <a:ext cx="600075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24" name="Text 21"/>
          <p:cNvSpPr/>
          <p:nvPr/>
        </p:nvSpPr>
        <p:spPr>
          <a:xfrm>
            <a:off x="880132" y="3113782"/>
            <a:ext cx="600075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Camera2D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480207" y="3124498"/>
            <a:ext cx="17830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para acompanhar a corrida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5800" y="3407346"/>
            <a:ext cx="40576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Inspector, observar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85800" y="3653805"/>
            <a:ext cx="600075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3653805"/>
            <a:ext cx="600075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velocity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285875" y="3653805"/>
            <a:ext cx="2186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504485" y="3653805"/>
            <a:ext cx="792956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31" name="Text 28"/>
          <p:cNvSpPr/>
          <p:nvPr/>
        </p:nvSpPr>
        <p:spPr>
          <a:xfrm>
            <a:off x="1504485" y="3653805"/>
            <a:ext cx="792956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motion_mode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297441" y="3653805"/>
            <a:ext cx="2186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516051" y="3653805"/>
            <a:ext cx="857250" cy="175022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34" name="Text 31"/>
          <p:cNvSpPr/>
          <p:nvPr/>
        </p:nvSpPr>
        <p:spPr>
          <a:xfrm>
            <a:off x="2516051" y="3653805"/>
            <a:ext cx="857250" cy="17502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3F1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up_direction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373301" y="3653805"/>
            <a:ext cx="10929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· propriedades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5800" y="3835971"/>
            <a:ext cx="14573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expostas pelo script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42925" y="4125292"/>
            <a:ext cx="4200525" cy="721519"/>
          </a:xfrm>
          <a:prstGeom prst="rect">
            <a:avLst/>
          </a:prstGeom>
          <a:solidFill>
            <a:srgbClr val="A178FF">
              <a:alpha val="5000"/>
            </a:srgbClr>
          </a:solidFill>
          <a:ln w="9144">
            <a:solidFill>
              <a:srgbClr val="A178FF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8650" y="4211017"/>
            <a:ext cx="40290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REGRA DIDÁTICA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28650" y="4403899"/>
            <a:ext cx="4029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Sem tocar no código, alterar apenas os valores disponíveis no projeto-base; depois, jogar e nomear a diferença.</a:t>
            </a:r>
            <a:endParaRPr lang="en-US" sz="8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1604442"/>
            <a:ext cx="3429000" cy="2143125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06 — 12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07 / PRÁTICA GUIADA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Oficina: alterar, jogar, nomear a diferença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42925" y="1325835"/>
            <a:ext cx="80581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100 MINUTOS DE PRÁTICA GUIADA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2925" y="1686595"/>
            <a:ext cx="1285875" cy="271463"/>
          </a:xfrm>
          <a:prstGeom prst="rect">
            <a:avLst/>
          </a:prstGeom>
          <a:noFill/>
          <a:ln/>
        </p:spPr>
        <p:txBody>
          <a:bodyPr wrap="none" lIns="0" tIns="8509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TEMPO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828800" y="1686595"/>
            <a:ext cx="3386138" cy="27146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AÇÃO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214938" y="1686595"/>
            <a:ext cx="3386138" cy="271463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EVIDÊNCIA PRODUZIDA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42925" y="1965201"/>
            <a:ext cx="1285875" cy="325041"/>
          </a:xfrm>
          <a:prstGeom prst="rect">
            <a:avLst/>
          </a:prstGeom>
          <a:noFill/>
          <a:ln/>
        </p:spPr>
        <p:txBody>
          <a:bodyPr wrap="non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0–10 min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28800" y="1965201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Abrir o projeto e jogar o baseline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14938" y="1965201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Uma descrição do movimento original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2925" y="2297385"/>
            <a:ext cx="1285875" cy="325041"/>
          </a:xfrm>
          <a:prstGeom prst="rect">
            <a:avLst/>
          </a:prstGeom>
          <a:noFill/>
          <a:ln/>
        </p:spPr>
        <p:txBody>
          <a:bodyPr wrap="non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10–25 min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28800" y="2297385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Testar uma variável por vez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214938" y="2297385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Antes/depois observável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2925" y="2629570"/>
            <a:ext cx="1285875" cy="325041"/>
          </a:xfrm>
          <a:prstGeom prst="rect">
            <a:avLst/>
          </a:prstGeom>
          <a:noFill/>
          <a:ln/>
        </p:spPr>
        <p:txBody>
          <a:bodyPr wrap="non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25–45 min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28800" y="2629570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Aceleração e atrito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214938" y="2629570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Sensação de resposta e peso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2925" y="2961754"/>
            <a:ext cx="1285875" cy="325041"/>
          </a:xfrm>
          <a:prstGeom prst="rect">
            <a:avLst/>
          </a:prstGeom>
          <a:noFill/>
          <a:ln/>
        </p:spPr>
        <p:txBody>
          <a:bodyPr wrap="non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45–65 min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828800" y="2961754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Gravidade e inércia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214938" y="2961754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Risco, queda e recuperação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2925" y="3293938"/>
            <a:ext cx="1285875" cy="325041"/>
          </a:xfrm>
          <a:prstGeom prst="rect">
            <a:avLst/>
          </a:prstGeom>
          <a:noFill/>
          <a:ln/>
        </p:spPr>
        <p:txBody>
          <a:bodyPr wrap="non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65–85 min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828800" y="3293938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Corrida rápida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214938" y="3293938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Compromisso entre explosão e controle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42925" y="3626123"/>
            <a:ext cx="1285875" cy="325041"/>
          </a:xfrm>
          <a:prstGeom prst="rect">
            <a:avLst/>
          </a:prstGeom>
          <a:noFill/>
          <a:ln/>
        </p:spPr>
        <p:txBody>
          <a:bodyPr wrap="non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85–100 min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828800" y="3626123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Comparar descobertas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14938" y="3626123"/>
            <a:ext cx="3386138" cy="325041"/>
          </a:xfrm>
          <a:prstGeom prst="rect">
            <a:avLst/>
          </a:prstGeom>
          <a:noFill/>
          <a:ln/>
        </p:spPr>
        <p:txBody>
          <a:bodyPr wrap="square" lIns="0" tIns="85090" rIns="136017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Hipótese de design em uma frase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42925" y="4129757"/>
            <a:ext cx="8058150" cy="425053"/>
          </a:xfrm>
          <a:prstGeom prst="rect">
            <a:avLst/>
          </a:prstGeom>
          <a:solidFill>
            <a:srgbClr val="64E1E6">
              <a:alpha val="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42925" y="4129757"/>
            <a:ext cx="28575" cy="425053"/>
          </a:xfrm>
          <a:prstGeom prst="rect">
            <a:avLst/>
          </a:prstGeom>
          <a:solidFill>
            <a:srgbClr val="64E1E6"/>
          </a:solidFill>
          <a:ln/>
        </p:spPr>
      </p:sp>
      <p:sp>
        <p:nvSpPr>
          <p:cNvPr id="29" name="Text 26"/>
          <p:cNvSpPr/>
          <p:nvPr/>
        </p:nvSpPr>
        <p:spPr>
          <a:xfrm>
            <a:off x="714375" y="4274418"/>
            <a:ext cx="6686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PROTOCOLO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497341" y="4244057"/>
            <a:ext cx="4646842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mudar </a:t>
            </a:r>
            <a:r>
              <a:rPr lang="en-US" sz="1250" dirty="0">
                <a:solidFill>
                  <a:srgbClr val="38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jogar por 30s </a:t>
            </a:r>
            <a:r>
              <a:rPr lang="en-US" sz="1250" dirty="0">
                <a:solidFill>
                  <a:srgbClr val="38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registrar </a:t>
            </a:r>
            <a:r>
              <a:rPr lang="en-US" sz="1250" dirty="0">
                <a:solidFill>
                  <a:srgbClr val="38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restaurar </a:t>
            </a:r>
            <a:r>
              <a:rPr lang="en-US" sz="1250" dirty="0">
                <a:solidFill>
                  <a:srgbClr val="38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comparar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07 — 12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77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08 / ANÁLISE DE RESULTADOS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matriz transforma sensação em decisão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42925" y="1311548"/>
            <a:ext cx="1571625" cy="357188"/>
          </a:xfrm>
          <a:prstGeom prst="rect">
            <a:avLst/>
          </a:prstGeom>
          <a:noFill/>
          <a:ln/>
        </p:spPr>
        <p:txBody>
          <a:bodyPr wrap="square" lIns="0" tIns="136017" rIns="204089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EXPERIMENTO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114550" y="1311548"/>
            <a:ext cx="2027039" cy="357188"/>
          </a:xfrm>
          <a:prstGeom prst="rect">
            <a:avLst/>
          </a:prstGeom>
          <a:noFill/>
          <a:ln/>
        </p:spPr>
        <p:txBody>
          <a:bodyPr wrap="square" lIns="0" tIns="136017" rIns="204089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 AUMENTAR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141589" y="1311548"/>
            <a:ext cx="2027039" cy="357188"/>
          </a:xfrm>
          <a:prstGeom prst="rect">
            <a:avLst/>
          </a:prstGeom>
          <a:noFill/>
          <a:ln/>
        </p:spPr>
        <p:txBody>
          <a:bodyPr wrap="square" lIns="0" tIns="136017" rIns="204089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 REDUZIR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168628" y="1311548"/>
            <a:ext cx="2432447" cy="357188"/>
          </a:xfrm>
          <a:prstGeom prst="rect">
            <a:avLst/>
          </a:prstGeom>
          <a:noFill/>
          <a:ln/>
        </p:spPr>
        <p:txBody>
          <a:bodyPr wrap="square" lIns="0" tIns="136017" rIns="204089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QUE INVESTIGAR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42925" y="1675879"/>
            <a:ext cx="1571625" cy="628650"/>
          </a:xfrm>
          <a:prstGeom prst="rect">
            <a:avLst/>
          </a:prstGeom>
          <a:noFill/>
          <a:ln/>
        </p:spPr>
        <p:txBody>
          <a:bodyPr wrap="square" lIns="0" tIns="170053" rIns="204089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Aceleração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14550" y="1818754"/>
            <a:ext cx="18555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Arranque mais “colado” ao input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41589" y="1818754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Preparação e antecipação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168628" y="1818754"/>
            <a:ext cx="22609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herói parece ágil ou pesado?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2925" y="2311673"/>
            <a:ext cx="1571625" cy="650081"/>
          </a:xfrm>
          <a:prstGeom prst="rect">
            <a:avLst/>
          </a:prstGeom>
          <a:noFill/>
          <a:ln/>
        </p:spPr>
        <p:txBody>
          <a:bodyPr wrap="square" lIns="0" tIns="170053" rIns="204089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Atrito / desaceleração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14550" y="2454548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Paradas mais precisas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141589" y="2454548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Deslizamento e inércia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168628" y="2454548"/>
            <a:ext cx="2260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precisão favorece ou mata o risco?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2925" y="2968898"/>
            <a:ext cx="1571625" cy="467916"/>
          </a:xfrm>
          <a:prstGeom prst="rect">
            <a:avLst/>
          </a:prstGeom>
          <a:noFill/>
          <a:ln/>
        </p:spPr>
        <p:txBody>
          <a:bodyPr wrap="square" lIns="0" tIns="170053" rIns="204089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Gravidade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14550" y="3111773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Queda e urgência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41589" y="3111773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Suspensão e tolerância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68628" y="3111773"/>
            <a:ext cx="22609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O espaço ameaça ou acolhe?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2925" y="3443957"/>
            <a:ext cx="1571625" cy="650081"/>
          </a:xfrm>
          <a:prstGeom prst="rect">
            <a:avLst/>
          </a:prstGeom>
          <a:noFill/>
          <a:ln/>
        </p:spPr>
        <p:txBody>
          <a:bodyPr wrap="square" lIns="0" tIns="170053" rIns="204089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Aceleração da corrida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114550" y="3586832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Explosão imediata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41589" y="3586832"/>
            <a:ext cx="18555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Sprint comprometido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68628" y="3586832"/>
            <a:ext cx="22609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 corrida é botão ou decisão?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2925" y="4444082"/>
            <a:ext cx="8058150" cy="753666"/>
          </a:xfrm>
          <a:prstGeom prst="rect">
            <a:avLst/>
          </a:prstGeom>
          <a:solidFill>
            <a:srgbClr val="A178FF">
              <a:alpha val="5000"/>
            </a:srgbClr>
          </a:solidFill>
          <a:ln w="9144">
            <a:solidFill>
              <a:srgbClr val="A178FF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1525" y="4615532"/>
            <a:ext cx="76009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REGISTRO DE ESTUDANTE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71525" y="4836988"/>
            <a:ext cx="7600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Valor testado → sensação percebida → comportamento induzido → hipótese para o GDD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2925" y="479412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8190979" y="479412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08 — 12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09 / DOCUMENTAÇÃO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78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GDD: escreva a fantasia antes de balancear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42925" y="1658689"/>
            <a:ext cx="571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Player Fantasy</a:t>
            </a:r>
            <a:r>
              <a:rPr lang="en-US" sz="10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não é uma lista de poderes. É a promessa corporal e </a:t>
            </a:r>
            <a:r>
              <a:rPr lang="en-US" sz="10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narrativa que o sistema deve cumprir.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2925" y="2287339"/>
            <a:ext cx="7143750" cy="2057400"/>
          </a:xfrm>
          <a:prstGeom prst="rect">
            <a:avLst/>
          </a:prstGeom>
          <a:solidFill>
            <a:srgbClr val="A178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42925" y="2287339"/>
            <a:ext cx="28575" cy="2057400"/>
          </a:xfrm>
          <a:prstGeom prst="rect">
            <a:avLst/>
          </a:prstGeom>
          <a:solidFill>
            <a:srgbClr val="A178FF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" y="2373064"/>
            <a:ext cx="6629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MODELO DE PRIMEIRO PARÁGRAFO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800100" y="2587377"/>
            <a:ext cx="6629400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círculo mágico de </a:t>
            </a:r>
            <a:r>
              <a:rPr lang="en-US" sz="13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[nome do jogo]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 jogador vive a fantasia de </a:t>
            </a:r>
            <a:r>
              <a:rPr lang="en-US" sz="13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[verbo + papel]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 em corridas curtas, escolhe riscos e transforma cada derrota em conhecimento para 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retornar mais capaz. A morte encerra apenas a corrida atual; o domínio do espaço e </a:t>
            </a:r>
            <a:r>
              <a:rPr lang="en-US" sz="13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[meta-progressão]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alimentam a próxima tentativa. O movimento deve parecer </a:t>
            </a:r>
            <a:r>
              <a:rPr lang="en-US" sz="1300" b="1" dirty="0">
                <a:solidFill>
                  <a:srgbClr val="64E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[adjetivos de Game Feel]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para que o jogador aceite perder porque deseja descobrir </a:t>
            </a:r>
            <a:r>
              <a:rPr lang="en-US" sz="14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voltar diferente."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2925" y="4625132"/>
            <a:ext cx="167883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COMPLETE COM TRÊS VERBOS: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336062" y="4594771"/>
            <a:ext cx="197055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entrar </a:t>
            </a:r>
            <a:r>
              <a:rPr lang="en-US" sz="1250" dirty="0">
                <a:solidFill>
                  <a:srgbClr val="38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arriscar </a:t>
            </a:r>
            <a:r>
              <a:rPr lang="en-US" sz="1250" dirty="0">
                <a:solidFill>
                  <a:srgbClr val="3846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r>
              <a:rPr lang="en-US" sz="12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retornar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09 — 12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10 / CONCLUSÃO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aula em uma frase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542925" y="1268685"/>
            <a:ext cx="8058150" cy="982935"/>
          </a:xfrm>
          <a:prstGeom prst="rect">
            <a:avLst/>
          </a:prstGeom>
          <a:solidFill>
            <a:srgbClr val="A178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42925" y="1268685"/>
            <a:ext cx="28575" cy="982935"/>
          </a:xfrm>
          <a:prstGeom prst="rect">
            <a:avLst/>
          </a:prstGeom>
          <a:solidFill>
            <a:srgbClr val="A178FF"/>
          </a:solidFill>
          <a:ln/>
        </p:spPr>
      </p:sp>
      <p:sp>
        <p:nvSpPr>
          <p:cNvPr id="7" name="Text 4"/>
          <p:cNvSpPr/>
          <p:nvPr/>
        </p:nvSpPr>
        <p:spPr>
          <a:xfrm>
            <a:off x="771525" y="1440135"/>
            <a:ext cx="76009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círculo mágico dá sentido à regra; o roguelite dá ritmo à falha; o Game </a:t>
            </a:r>
            <a:r>
              <a:rPr lang="en-US" sz="1600" b="1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faz o corpo acreditar; </a:t>
            </a:r>
            <a:r>
              <a:rPr lang="en-US" sz="16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GDD transforma essa promessa em decisão.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2925" y="2480221"/>
            <a:ext cx="4857750" cy="24645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SAÍDA DA AULA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8675" y="2840980"/>
            <a:ext cx="4572000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Uma leitura conceitual do jogo como sistema espacial e normativo.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8675" y="3312468"/>
            <a:ext cx="4572000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Uma tabela de experimentos físicos no projeto-base da Godot.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8675" y="3783955"/>
            <a:ext cx="4572000" cy="38576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Um primeiro parágrafo de GDD com Player Fantasy explícita.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43575" y="2480221"/>
            <a:ext cx="2857500" cy="1775222"/>
          </a:xfrm>
          <a:prstGeom prst="rect">
            <a:avLst/>
          </a:prstGeom>
          <a:solidFill>
            <a:srgbClr val="64E1E6">
              <a:alpha val="5000"/>
            </a:srgbClr>
          </a:solidFill>
          <a:ln w="9144">
            <a:solidFill>
              <a:srgbClr val="64E1E6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675" y="2840980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8675" y="3312468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8675" y="3783955"/>
            <a:ext cx="77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15025" y="2927096"/>
            <a:ext cx="25146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PRÓXIMO PASSO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915025" y="3148552"/>
            <a:ext cx="251460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Escolher uma única variável, formular uma hipótese e jogar até conseguir descrevê-la com um verbo.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10 — 12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2925" y="414338"/>
            <a:ext cx="80581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11 / BIBLIOGRAFIA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42925" y="707231"/>
            <a:ext cx="6429375" cy="3900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650" b="1" spc="-1" kern="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Referências essenciais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28675" y="1325835"/>
            <a:ext cx="18328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26257" y="1332979"/>
            <a:ext cx="633946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Huizinga, Johan. </a:t>
            </a:r>
            <a:r>
              <a:rPr lang="en-US" sz="90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Homo Ludens: a study of the play element in culture</a:t>
            </a: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— Internet Archive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8675" y="1629445"/>
            <a:ext cx="18328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6257" y="1636588"/>
            <a:ext cx="44449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Godot Engine. </a:t>
            </a:r>
            <a:r>
              <a:rPr lang="en-US" sz="90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Using CharacterBody2D/3D</a:t>
            </a: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— documentação estável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8675" y="1933054"/>
            <a:ext cx="18328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26257" y="1940198"/>
            <a:ext cx="656041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Swink, Steve. </a:t>
            </a:r>
            <a:r>
              <a:rPr lang="en-US" sz="90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Game Feel: A Game Designer’s Guide to Virtual Sensation</a:t>
            </a: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 — Morgan Kaufmann / </a:t>
            </a: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ScienceDirect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8675" y="2418829"/>
            <a:ext cx="18328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17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26257" y="2425973"/>
            <a:ext cx="656041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2CC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Hunicke, Robin; LeBlanc, Marc; Zubek, Robert. </a:t>
            </a:r>
            <a:r>
              <a:rPr lang="en-US" sz="900" i="1" dirty="0">
                <a:solidFill>
                  <a:srgbClr val="F3F1EA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MDA: A Formal Approach to Game Design and Game Research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2925" y="3047479"/>
            <a:ext cx="7143750" cy="885825"/>
          </a:xfrm>
          <a:prstGeom prst="rect">
            <a:avLst/>
          </a:prstGeom>
          <a:solidFill>
            <a:srgbClr val="A178FF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42925" y="3047479"/>
            <a:ext cx="28575" cy="885825"/>
          </a:xfrm>
          <a:prstGeom prst="rect">
            <a:avLst/>
          </a:prstGeom>
          <a:solidFill>
            <a:srgbClr val="A178FF"/>
          </a:solidFill>
          <a:ln/>
        </p:spPr>
      </p:sp>
      <p:sp>
        <p:nvSpPr>
          <p:cNvPr id="15" name="Text 12"/>
          <p:cNvSpPr/>
          <p:nvPr/>
        </p:nvSpPr>
        <p:spPr>
          <a:xfrm>
            <a:off x="742950" y="3190354"/>
            <a:ext cx="67437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A178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NOTA DE PRECISÃO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42950" y="3408238"/>
            <a:ext cx="66475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projeto-base, “atrito”, “gravidade”, “inércia” e “aceleração” podem ser parâmetros expostos pelo script da oficina; eles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2950" y="3611835"/>
            <a:ext cx="211432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são aplicados automaticamente ao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57277" y="3586832"/>
            <a:ext cx="1178719" cy="192881"/>
          </a:xfrm>
          <a:prstGeom prst="rect">
            <a:avLst/>
          </a:prstGeom>
          <a:solidFill>
            <a:srgbClr val="2D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277" y="3586832"/>
            <a:ext cx="1178719" cy="19288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E1E6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CharacterBody2D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035996" y="3611835"/>
            <a:ext cx="88186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3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pela engine. [2]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2925" y="4754166"/>
            <a:ext cx="158167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DESIGN DE JOGOS / ROGUELITE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8190979" y="4754166"/>
            <a:ext cx="41009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71809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11 — 12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2026-09-01T02:17:01Z</dcterms:created>
  <dcterms:modified xsi:type="dcterms:W3CDTF">2026-09-01T02:17:01Z</dcterms:modified>
</cp:coreProperties>
</file>