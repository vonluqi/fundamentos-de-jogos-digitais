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6"/>
    <p:sldId id="264" r:id="rId5"/>
    <p:sldId id="265" r:id="rId4"/>
    <p:sldId id="266" r:id="rId3"/>
    <p:sldId id="267" r:id="rId2"/>
    <p:sldId id="268" r:id="rId19"/>
    <p:sldId id="269" r:id="rId20"/>
    <p:sldId id="270" r:id="rId21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2.xml"/><Relationship Id="rId3" Type="http://schemas.openxmlformats.org/officeDocument/2006/relationships/slide" Target="slides/slide11.xml"/><Relationship Id="rId4" Type="http://schemas.openxmlformats.org/officeDocument/2006/relationships/slide" Target="slides/slide10.xml"/><Relationship Id="rId5" Type="http://schemas.openxmlformats.org/officeDocument/2006/relationships/slide" Target="slides/slide9.xml"/><Relationship Id="rId6" Type="http://schemas.openxmlformats.org/officeDocument/2006/relationships/slide" Target="slides/slide8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7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256032"/>
            <a:ext cx="640080" cy="384048"/>
          </a:xfrm>
          <a:prstGeom prst="roundRect">
            <a:avLst/>
          </a:prstGeom>
          <a:solidFill>
            <a:srgbClr val="7A1F2B"/>
          </a:solidFill>
          <a:ln w="12700">
            <a:solidFill>
              <a:srgbClr val="CFA7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78638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Aula 05: Classificação Indicativa</a:t>
            </a:r>
          </a:p>
          <a:p>
            <a:pPr algn="l">
              <a:spcAft>
                <a:spcPts val="1600"/>
              </a:spcAft>
            </a:pPr>
            <a:r>
              <a:rPr sz="24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(ClassInd), IARC e Design Saudável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AB9C8A"/>
                </a:solidFill>
                <a:latin typeface="Georgia"/>
                <a:cs typeface="Georgia"/>
                <a:ea typeface="Georgia"/>
              </a:rPr>
              <a:t>Faixas etárias · ClassInd-dle · Adequação de público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383280"/>
            <a:ext cx="4023360" cy="822960"/>
          </a:xfrm>
          <a:prstGeom prst="roundRect">
            <a:avLst/>
          </a:prstGeom>
          <a:solidFill>
            <a:srgbClr val="18121A"/>
          </a:solidFill>
          <a:ln w="15875">
            <a:solidFill>
              <a:srgbClr val="7A5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52044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FA759"/>
                </a:solidFill>
                <a:latin typeface="Cinzel"/>
                <a:cs typeface="Cinzel"/>
                <a:ea typeface="Cinzel"/>
              </a:rPr>
              <a:t>MÓDULO 1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FUNDAÇÕES, CULTURA E INTERFACE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320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AB9C8A"/>
                </a:solidFill>
                <a:latin typeface="Cinzel"/>
                <a:cs typeface="Cinzel"/>
                <a:ea typeface="Cinzel"/>
              </a:rPr>
              <a:t>AULA 05 | MÓDULO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7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256032"/>
            <a:ext cx="640080" cy="384048"/>
          </a:xfrm>
          <a:prstGeom prst="roundRect">
            <a:avLst/>
          </a:prstGeom>
          <a:solidFill>
            <a:srgbClr val="7A1F2B"/>
          </a:solidFill>
          <a:ln w="12700">
            <a:solidFill>
              <a:srgbClr val="CFA7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256032"/>
            <a:ext cx="74980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Onde estamos na trilha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280160"/>
            <a:ext cx="2743200" cy="2286000"/>
          </a:xfrm>
          <a:prstGeom prst="roundRect">
            <a:avLst/>
          </a:prstGeom>
          <a:solidFill>
            <a:srgbClr val="18121A"/>
          </a:solidFill>
          <a:ln w="15875">
            <a:solidFill>
              <a:srgbClr val="7A5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08760"/>
            <a:ext cx="23774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</a:pPr>
            <a:r>
              <a:rPr sz="14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AULA 04</a:t>
            </a:r>
          </a:p>
          <a:p>
            <a:pPr algn="ctr">
              <a:spcAft>
                <a:spcPts val="200"/>
              </a:spcAft>
            </a:pPr>
            <a:r>
              <a:rPr sz="13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Contrato de tela</a:t>
            </a:r>
          </a:p>
          <a:p>
            <a:pPr algn="ctr">
              <a:spcAft>
                <a:spcPts val="200"/>
              </a:spcAft>
            </a:pPr>
            <a:r>
              <a:rPr sz="13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(viewport / stretch)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21945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CFA759"/>
                </a:solidFill>
                <a:latin typeface="Cinzel"/>
                <a:cs typeface="Cinzel"/>
                <a:ea typeface="Cinzel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1280160"/>
            <a:ext cx="2743200" cy="2286000"/>
          </a:xfrm>
          <a:prstGeom prst="roundRect">
            <a:avLst/>
          </a:prstGeom>
          <a:solidFill>
            <a:srgbClr val="18121A"/>
          </a:solidFill>
          <a:ln w="15875">
            <a:solidFill>
              <a:srgbClr val="7A5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40" y="1508760"/>
            <a:ext cx="23774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</a:pPr>
            <a:r>
              <a:rPr sz="14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AULA 05</a:t>
            </a:r>
          </a:p>
          <a:p>
            <a:pPr algn="ctr">
              <a:spcAft>
                <a:spcPts val="200"/>
              </a:spcAft>
            </a:pPr>
            <a:r>
              <a:rPr sz="13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Para quem publica?</a:t>
            </a:r>
          </a:p>
          <a:p>
            <a:pPr algn="ctr">
              <a:spcAft>
                <a:spcPts val="200"/>
              </a:spcAft>
            </a:pPr>
            <a:r>
              <a:rPr sz="13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ClassInd + IARC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06440" y="21945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CFA759"/>
                </a:solidFill>
                <a:latin typeface="Cinzel"/>
                <a:cs typeface="Cinzel"/>
                <a:ea typeface="Cinzel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280160"/>
            <a:ext cx="2743200" cy="2286000"/>
          </a:xfrm>
          <a:prstGeom prst="roundRect">
            <a:avLst/>
          </a:prstGeom>
          <a:solidFill>
            <a:srgbClr val="18121A"/>
          </a:solidFill>
          <a:ln w="15875">
            <a:solidFill>
              <a:srgbClr val="7A5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508760"/>
            <a:ext cx="23774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</a:pPr>
            <a:r>
              <a:rPr sz="14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PRÁTICA</a:t>
            </a:r>
          </a:p>
          <a:p>
            <a:pPr algn="ctr">
              <a:spcAft>
                <a:spcPts val="200"/>
              </a:spcAft>
            </a:pPr>
            <a:r>
              <a:rPr sz="13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ClassInd-dle +</a:t>
            </a:r>
          </a:p>
          <a:p>
            <a:pPr algn="ctr">
              <a:spcAft>
                <a:spcPts val="200"/>
              </a:spcAft>
            </a:pPr>
            <a:r>
              <a:rPr sz="13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Patch Note no site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7320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AB9C8A"/>
                </a:solidFill>
                <a:latin typeface="Cinzel"/>
                <a:cs typeface="Cinzel"/>
                <a:ea typeface="Cinzel"/>
              </a:rPr>
              <a:t>AULA 05 | MÓDULO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7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256032"/>
            <a:ext cx="640080" cy="384048"/>
          </a:xfrm>
          <a:prstGeom prst="roundRect">
            <a:avLst/>
          </a:prstGeom>
          <a:solidFill>
            <a:srgbClr val="7A1F2B"/>
          </a:solidFill>
          <a:ln w="12700">
            <a:solidFill>
              <a:srgbClr val="CFA7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256032"/>
            <a:ext cx="74980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Tópico da ementa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80160"/>
            <a:ext cx="8138160" cy="2560320"/>
          </a:xfrm>
          <a:prstGeom prst="roundRect">
            <a:avLst/>
          </a:prstGeom>
          <a:solidFill>
            <a:srgbClr val="18121A"/>
          </a:solidFill>
          <a:ln w="15875">
            <a:solidFill>
              <a:srgbClr val="7A5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737360"/>
            <a:ext cx="7498079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Sistemas de classificação indicativa</a:t>
            </a:r>
          </a:p>
          <a:p>
            <a:pPr algn="ctr">
              <a:spcAft>
                <a:spcPts val="1400"/>
              </a:spcAft>
            </a:pPr>
            <a:r>
              <a:rPr sz="22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e adequação de público</a:t>
            </a:r>
          </a:p>
          <a:p>
            <a:pPr algn="ctr">
              <a:spcAft>
                <a:spcPts val="600"/>
              </a:spcAft>
            </a:pPr>
            <a:r>
              <a:rPr sz="1400" b="0">
                <a:solidFill>
                  <a:srgbClr val="AB9C8A"/>
                </a:solidFill>
                <a:latin typeface="Georgia"/>
                <a:cs typeface="Georgia"/>
                <a:ea typeface="Georgia"/>
              </a:rPr>
              <a:t>O selo não é só marketing — é consequência de feedbacks de design.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320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AB9C8A"/>
                </a:solidFill>
                <a:latin typeface="Cinzel"/>
                <a:cs typeface="Cinzel"/>
                <a:ea typeface="Cinzel"/>
              </a:rPr>
              <a:t>AULA 05 | MÓDULO 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7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256032"/>
            <a:ext cx="640080" cy="384048"/>
          </a:xfrm>
          <a:prstGeom prst="roundRect">
            <a:avLst/>
          </a:prstGeom>
          <a:solidFill>
            <a:srgbClr val="7A1F2B"/>
          </a:solidFill>
          <a:ln w="12700">
            <a:solidFill>
              <a:srgbClr val="CFA7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256032"/>
            <a:ext cx="74980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Três ideias da aula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2743200" cy="2560320"/>
          </a:xfrm>
          <a:prstGeom prst="roundRect">
            <a:avLst/>
          </a:prstGeom>
          <a:solidFill>
            <a:srgbClr val="18121A"/>
          </a:solidFill>
          <a:ln w="15875">
            <a:solidFill>
              <a:srgbClr val="7A5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23774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</a:pPr>
            <a:r>
              <a:rPr sz="13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CLASSIND</a:t>
            </a:r>
          </a:p>
          <a:p>
            <a:pPr algn="ctr">
              <a:spcAft>
                <a:spcPts val="600"/>
              </a:spcAft>
            </a:pPr>
            <a:r>
              <a:rPr sz="13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Aviso brasileiro de conteúdo — consumidor, lojas e responsabilidade do dev.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1188720"/>
            <a:ext cx="2743200" cy="2560320"/>
          </a:xfrm>
          <a:prstGeom prst="roundRect">
            <a:avLst/>
          </a:prstGeom>
          <a:solidFill>
            <a:srgbClr val="18121A"/>
          </a:solidFill>
          <a:ln w="15875">
            <a:solidFill>
              <a:srgbClr val="7A5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0440" y="1463040"/>
            <a:ext cx="23774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</a:pPr>
            <a:r>
              <a:rPr sz="13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IARC</a:t>
            </a:r>
          </a:p>
          <a:p>
            <a:pPr algn="ctr">
              <a:spcAft>
                <a:spcPts val="600"/>
              </a:spcAft>
            </a:pPr>
            <a:r>
              <a:rPr sz="13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Formulário único → selos multi-região/loja, gratuito no digital.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188720"/>
            <a:ext cx="2743200" cy="2560320"/>
          </a:xfrm>
          <a:prstGeom prst="roundRect">
            <a:avLst/>
          </a:prstGeom>
          <a:solidFill>
            <a:srgbClr val="18121A"/>
          </a:solidFill>
          <a:ln w="15875">
            <a:solidFill>
              <a:srgbClr val="7A5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463040"/>
            <a:ext cx="23774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</a:pPr>
            <a:r>
              <a:rPr sz="13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DESIGN SAUDÁVEL</a:t>
            </a:r>
          </a:p>
          <a:p>
            <a:pPr algn="ctr">
              <a:spcAft>
                <a:spcPts val="600"/>
              </a:spcAft>
            </a:pPr>
            <a:r>
              <a:rPr sz="13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Preservar o loop-core sem inflar violência, sexo ou drogas.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7320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AB9C8A"/>
                </a:solidFill>
                <a:latin typeface="Cinzel"/>
                <a:cs typeface="Cinzel"/>
                <a:ea typeface="Cinzel"/>
              </a:rPr>
              <a:t>AULA 05 | MÓDULO 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7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256032"/>
            <a:ext cx="640080" cy="384048"/>
          </a:xfrm>
          <a:prstGeom prst="roundRect">
            <a:avLst/>
          </a:prstGeom>
          <a:solidFill>
            <a:srgbClr val="7A1F2B"/>
          </a:solidFill>
          <a:ln w="12700">
            <a:solidFill>
              <a:srgbClr val="CFA7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256032"/>
            <a:ext cx="74980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Faixas — leitura operacional</a:t>
            </a:r>
          </a:p>
        </p:txBody>
      </p:sp>
      <p:pic>
        <p:nvPicPr>
          <p:cNvPr id="7" name="Picture 6" descr="diagrama-das-faixas-etari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51560"/>
            <a:ext cx="7863840" cy="32461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47320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AB9C8A"/>
                </a:solidFill>
                <a:latin typeface="Cinzel"/>
                <a:cs typeface="Cinzel"/>
                <a:ea typeface="Cinzel"/>
              </a:rPr>
              <a:t>AULA 05 | MÓDULO 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7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256032"/>
            <a:ext cx="640080" cy="384048"/>
          </a:xfrm>
          <a:prstGeom prst="roundRect">
            <a:avLst/>
          </a:prstGeom>
          <a:solidFill>
            <a:srgbClr val="7A1F2B"/>
          </a:solidFill>
          <a:ln w="12700">
            <a:solidFill>
              <a:srgbClr val="CFA7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256032"/>
            <a:ext cx="74980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Três eixos clássicos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280160"/>
            <a:ext cx="2743200" cy="2377440"/>
          </a:xfrm>
          <a:prstGeom prst="roundRect">
            <a:avLst/>
          </a:prstGeom>
          <a:solidFill>
            <a:srgbClr val="18121A"/>
          </a:solidFill>
          <a:ln w="15875">
            <a:solidFill>
              <a:srgbClr val="7A5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23774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</a:pPr>
            <a:r>
              <a:rPr sz="14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VIOLÊNCIA</a:t>
            </a:r>
          </a:p>
          <a:p>
            <a:pPr algn="ctr">
              <a:spcAft>
                <a:spcPts val="600"/>
              </a:spcAft>
            </a:pPr>
            <a:r>
              <a:rPr sz="13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Contra quem? Sangue? Cadáveres? Fantasia vs realismo.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1280160"/>
            <a:ext cx="2743200" cy="2377440"/>
          </a:xfrm>
          <a:prstGeom prst="roundRect">
            <a:avLst/>
          </a:prstGeom>
          <a:solidFill>
            <a:srgbClr val="18121A"/>
          </a:solidFill>
          <a:ln w="15875">
            <a:solidFill>
              <a:srgbClr val="7A5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0440" y="1554480"/>
            <a:ext cx="23774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</a:pPr>
            <a:r>
              <a:rPr sz="14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SEXO</a:t>
            </a:r>
          </a:p>
          <a:p>
            <a:pPr algn="ctr">
              <a:spcAft>
                <a:spcPts val="600"/>
              </a:spcAft>
            </a:pPr>
            <a:r>
              <a:rPr sz="13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Insinuação, nudez, atos, recompensa sexual.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280160"/>
            <a:ext cx="2743200" cy="2377440"/>
          </a:xfrm>
          <a:prstGeom prst="roundRect">
            <a:avLst/>
          </a:prstGeom>
          <a:solidFill>
            <a:srgbClr val="18121A"/>
          </a:solidFill>
          <a:ln w="15875">
            <a:solidFill>
              <a:srgbClr val="7A5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554480"/>
            <a:ext cx="23774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</a:pPr>
            <a:r>
              <a:rPr sz="14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DROGAS</a:t>
            </a:r>
          </a:p>
          <a:p>
            <a:pPr algn="ctr">
              <a:spcAft>
                <a:spcPts val="600"/>
              </a:spcAft>
            </a:pPr>
            <a:r>
              <a:rPr sz="13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Menção, uso como mecânica, glamourização.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7320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AB9C8A"/>
                </a:solidFill>
                <a:latin typeface="Cinzel"/>
                <a:cs typeface="Cinzel"/>
                <a:ea typeface="Cinzel"/>
              </a:rPr>
              <a:t>AULA 05 | MÓDULO 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7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256032"/>
            <a:ext cx="640080" cy="384048"/>
          </a:xfrm>
          <a:prstGeom prst="roundRect">
            <a:avLst/>
          </a:prstGeom>
          <a:solidFill>
            <a:srgbClr val="7A1F2B"/>
          </a:solidFill>
          <a:ln w="12700">
            <a:solidFill>
              <a:srgbClr val="CFA7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256032"/>
            <a:ext cx="74980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Atenuantes × agravantes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097280"/>
            <a:ext cx="3931920" cy="2834640"/>
          </a:xfrm>
          <a:prstGeom prst="roundRect">
            <a:avLst/>
          </a:prstGeom>
          <a:solidFill>
            <a:srgbClr val="18121A"/>
          </a:solidFill>
          <a:ln w="15875">
            <a:solidFill>
              <a:srgbClr val="7A5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34747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</a:pPr>
            <a:r>
              <a:rPr sz="1600" b="1">
                <a:solidFill>
                  <a:srgbClr val="CFA759"/>
                </a:solidFill>
                <a:latin typeface="Cinzel"/>
                <a:cs typeface="Cinzel"/>
                <a:ea typeface="Cinzel"/>
              </a:rPr>
              <a:t>ATENUAM</a:t>
            </a:r>
          </a:p>
          <a:p>
            <a:pPr algn="ctr">
              <a:spcAft>
                <a:spcPts val="800"/>
              </a:spcAft>
            </a:pPr>
            <a:r>
              <a:rPr sz="14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Fantasia · não-humano · comicidade</a:t>
            </a:r>
          </a:p>
          <a:p>
            <a:pPr algn="ctr">
              <a:spcAft>
                <a:spcPts val="600"/>
              </a:spcAft>
            </a:pPr>
            <a:r>
              <a:rPr sz="1300" b="0">
                <a:solidFill>
                  <a:srgbClr val="AB9C8A"/>
                </a:solidFill>
                <a:latin typeface="Georgia"/>
                <a:cs typeface="Georgia"/>
                <a:ea typeface="Georgia"/>
              </a:rPr>
              <a:t>Sem sangue · cura simbólica / mágica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09160" y="1097280"/>
            <a:ext cx="3931920" cy="2834640"/>
          </a:xfrm>
          <a:prstGeom prst="roundRect">
            <a:avLst/>
          </a:prstGeom>
          <a:solidFill>
            <a:srgbClr val="18121A"/>
          </a:solidFill>
          <a:ln w="15875">
            <a:solidFill>
              <a:srgbClr val="7A5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37760" y="1371600"/>
            <a:ext cx="34747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</a:pPr>
            <a:r>
              <a:rPr sz="16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AGRAVAM</a:t>
            </a:r>
          </a:p>
          <a:p>
            <a:pPr algn="ctr">
              <a:spcAft>
                <a:spcPts val="800"/>
              </a:spcAft>
            </a:pPr>
            <a:r>
              <a:rPr sz="14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Realismo · gore · cadáveres</a:t>
            </a:r>
          </a:p>
          <a:p>
            <a:pPr algn="ctr">
              <a:spcAft>
                <a:spcPts val="600"/>
              </a:spcAft>
            </a:pPr>
            <a:r>
              <a:rPr sz="1300" b="0">
                <a:solidFill>
                  <a:srgbClr val="AB9C8A"/>
                </a:solidFill>
                <a:latin typeface="Georgia"/>
                <a:cs typeface="Georgia"/>
                <a:ea typeface="Georgia"/>
              </a:rPr>
              <a:t>Nudez · glamourização de substâncias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7320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AB9C8A"/>
                </a:solidFill>
                <a:latin typeface="Cinzel"/>
                <a:cs typeface="Cinzel"/>
                <a:ea typeface="Cinzel"/>
              </a:rPr>
              <a:t>AULA 05 | MÓDULO 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7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256032"/>
            <a:ext cx="640080" cy="384048"/>
          </a:xfrm>
          <a:prstGeom prst="roundRect">
            <a:avLst/>
          </a:prstGeom>
          <a:solidFill>
            <a:srgbClr val="7A1F2B"/>
          </a:solidFill>
          <a:ln w="12700">
            <a:solidFill>
              <a:srgbClr val="CFA7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256032"/>
            <a:ext cx="74980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IARC — selos a partir de um formulário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143000"/>
            <a:ext cx="8138160" cy="2880360"/>
          </a:xfrm>
          <a:prstGeom prst="roundRect">
            <a:avLst/>
          </a:prstGeom>
          <a:solidFill>
            <a:srgbClr val="18121A"/>
          </a:solidFill>
          <a:ln w="15875">
            <a:solidFill>
              <a:srgbClr val="7A5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463040"/>
            <a:ext cx="7498079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400"/>
              </a:spcAft>
            </a:pPr>
            <a:r>
              <a:rPr sz="18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Você declara o conteúdo → o consórcio devolve selos.</a:t>
            </a:r>
          </a:p>
          <a:p>
            <a:pPr algn="ctr">
              <a:spcAft>
                <a:spcPts val="1000"/>
              </a:spcAft>
            </a:pPr>
            <a:r>
              <a:rPr sz="15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Gratuito e pensado para lojas digitais. As perguntas espelham os eixos.</a:t>
            </a:r>
          </a:p>
          <a:p>
            <a:pPr algn="ctr">
              <a:spcAft>
                <a:spcPts val="600"/>
              </a:spcAft>
            </a:pPr>
            <a:r>
              <a:rPr sz="1400" b="0">
                <a:solidFill>
                  <a:srgbClr val="AB9C8A"/>
                </a:solidFill>
                <a:latin typeface="Georgia"/>
                <a:cs typeface="Georgia"/>
                <a:ea typeface="Georgia"/>
              </a:rPr>
              <a:t>Mentir no formulário não é truque — é risco comercial e ético.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320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AB9C8A"/>
                </a:solidFill>
                <a:latin typeface="Cinzel"/>
                <a:cs typeface="Cinzel"/>
                <a:ea typeface="Cinzel"/>
              </a:rPr>
              <a:t>AULA 05 | MÓDULO 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7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256032"/>
            <a:ext cx="640080" cy="384048"/>
          </a:xfrm>
          <a:prstGeom prst="roundRect">
            <a:avLst/>
          </a:prstGeom>
          <a:solidFill>
            <a:srgbClr val="7A1F2B"/>
          </a:solidFill>
          <a:ln w="12700">
            <a:solidFill>
              <a:srgbClr val="CFA7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256032"/>
            <a:ext cx="74980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Ponte: do conceito à oficina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78638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400"/>
              </a:spcAft>
            </a:pPr>
            <a:r>
              <a:rPr sz="20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Mesmo loop, faixas diferentes — o feedback decide.</a:t>
            </a:r>
          </a:p>
          <a:p>
            <a:pPr algn="ctr">
              <a:spcAft>
                <a:spcPts val="1000"/>
              </a:spcAft>
            </a:pPr>
            <a:r>
              <a:rPr sz="15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Parte 1: ClassInd-dle (Higher/Lower ao vivo).</a:t>
            </a:r>
          </a:p>
          <a:p>
            <a:pPr algn="ctr">
              <a:spcAft>
                <a:spcPts val="1600"/>
              </a:spcAft>
            </a:pPr>
            <a:r>
              <a:rPr sz="15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Parte 2: higienizar um pitch 16+/18+ até Livre ou 10.</a:t>
            </a:r>
          </a:p>
          <a:p>
            <a:pPr algn="ctr">
              <a:spcAft>
                <a:spcPts val="600"/>
              </a:spcAft>
            </a:pPr>
            <a:r>
              <a:rPr sz="1400" b="0">
                <a:solidFill>
                  <a:srgbClr val="AB9C8A"/>
                </a:solidFill>
                <a:latin typeface="Georgia"/>
                <a:cs typeface="Georgia"/>
                <a:ea typeface="Georgia"/>
              </a:rPr>
              <a:t>Sem Godot hoje — a oficina é o site.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7320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AB9C8A"/>
                </a:solidFill>
                <a:latin typeface="Cinzel"/>
                <a:cs typeface="Cinzel"/>
                <a:ea typeface="Cinzel"/>
              </a:rPr>
              <a:t>AULA 05 | MÓDULO 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7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256032"/>
            <a:ext cx="640080" cy="384048"/>
          </a:xfrm>
          <a:prstGeom prst="roundRect">
            <a:avLst/>
          </a:prstGeom>
          <a:solidFill>
            <a:srgbClr val="7A1F2B"/>
          </a:solidFill>
          <a:ln w="12700">
            <a:solidFill>
              <a:srgbClr val="CFA7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256032"/>
            <a:ext cx="74980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Parte 1 — ClassInd-dle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005840"/>
            <a:ext cx="8138160" cy="457200"/>
          </a:xfrm>
          <a:prstGeom prst="roundRect">
            <a:avLst/>
          </a:prstGeom>
          <a:solidFill>
            <a:srgbClr val="18121A"/>
          </a:solidFill>
          <a:ln w="15875">
            <a:solidFill>
              <a:srgbClr val="7A5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078992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1.  Mestre cria a sala e mostra o código no telão.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536192"/>
            <a:ext cx="8138160" cy="457200"/>
          </a:xfrm>
          <a:prstGeom prst="roundRect">
            <a:avLst/>
          </a:prstGeom>
          <a:solidFill>
            <a:srgbClr val="18121A"/>
          </a:solidFill>
          <a:ln w="15875">
            <a:solidFill>
              <a:srgbClr val="7A5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609344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2.  Alunos entram pelo CTA da Oficina (Mestre não vota).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066543"/>
            <a:ext cx="8138160" cy="457200"/>
          </a:xfrm>
          <a:prstGeom prst="roundRect">
            <a:avLst/>
          </a:prstGeom>
          <a:solidFill>
            <a:srgbClr val="18121A"/>
          </a:solidFill>
          <a:ln w="15875">
            <a:solidFill>
              <a:srgbClr val="7A5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139695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3.  Compare A vs B: qual exige a idade mais alta?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596896"/>
            <a:ext cx="8138160" cy="457200"/>
          </a:xfrm>
          <a:prstGeom prst="roundRect">
            <a:avLst/>
          </a:prstGeom>
          <a:solidFill>
            <a:srgbClr val="18121A"/>
          </a:solidFill>
          <a:ln w="15875">
            <a:solidFill>
              <a:srgbClr val="7A5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670048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4.  Vote uma vez. Placar ao vivo sem spoiler.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127248"/>
            <a:ext cx="8138160" cy="457200"/>
          </a:xfrm>
          <a:prstGeom prst="roundRect">
            <a:avLst/>
          </a:prstGeom>
          <a:solidFill>
            <a:srgbClr val="18121A"/>
          </a:solidFill>
          <a:ln w="15875">
            <a:solidFill>
              <a:srgbClr val="7A5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200400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5.  Após o revelar: faixas + acerto/erro + placar pessoal.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7320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AB9C8A"/>
                </a:solidFill>
                <a:latin typeface="Cinzel"/>
                <a:cs typeface="Cinzel"/>
                <a:ea typeface="Cinzel"/>
              </a:rPr>
              <a:t>AULA 05 | MÓDULO 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7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256032"/>
            <a:ext cx="640080" cy="384048"/>
          </a:xfrm>
          <a:prstGeom prst="roundRect">
            <a:avLst/>
          </a:prstGeom>
          <a:solidFill>
            <a:srgbClr val="7A1F2B"/>
          </a:solidFill>
          <a:ln w="12700">
            <a:solidFill>
              <a:srgbClr val="CFA7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09b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256032"/>
            <a:ext cx="74980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Exemplo de comparação (capas)</a:t>
            </a:r>
          </a:p>
        </p:txBody>
      </p:sp>
      <p:pic>
        <p:nvPicPr>
          <p:cNvPr id="7" name="Picture 6" descr="the-sims-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2377440" cy="3154680"/>
          </a:xfrm>
          <a:prstGeom prst="rect">
            <a:avLst/>
          </a:prstGeom>
        </p:spPr>
      </p:pic>
      <p:pic>
        <p:nvPicPr>
          <p:cNvPr id="8" name="Picture 7" descr="hollow-kn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0" y="1097280"/>
            <a:ext cx="2377440" cy="31546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383280" y="219456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28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VS</a:t>
            </a:r>
          </a:p>
          <a:p>
            <a:pPr algn="ctr">
              <a:spcAft>
                <a:spcPts val="600"/>
              </a:spcAft>
            </a:pPr>
            <a:r>
              <a:rPr sz="1200" b="0">
                <a:solidFill>
                  <a:srgbClr val="AB9C8A"/>
                </a:solidFill>
                <a:latin typeface="Georgia"/>
                <a:cs typeface="Georgia"/>
                <a:ea typeface="Georgia"/>
              </a:rPr>
              <a:t>Pegadinha: Sims 12 &gt; HK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7320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AB9C8A"/>
                </a:solidFill>
                <a:latin typeface="Cinzel"/>
                <a:cs typeface="Cinzel"/>
                <a:ea typeface="Cinzel"/>
              </a:rPr>
              <a:t>AULA 05 | MÓDULO 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7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256032"/>
            <a:ext cx="640080" cy="384048"/>
          </a:xfrm>
          <a:prstGeom prst="roundRect">
            <a:avLst/>
          </a:prstGeom>
          <a:solidFill>
            <a:srgbClr val="7A1F2B"/>
          </a:solidFill>
          <a:ln w="12700">
            <a:solidFill>
              <a:srgbClr val="CFA7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256032"/>
            <a:ext cx="74980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Parte 2 — Adequação reversa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143000"/>
            <a:ext cx="5029200" cy="2880360"/>
          </a:xfrm>
          <a:prstGeom prst="roundRect">
            <a:avLst/>
          </a:prstGeom>
          <a:solidFill>
            <a:srgbClr val="18121A"/>
          </a:solidFill>
          <a:ln w="15875">
            <a:solidFill>
              <a:srgbClr val="7A5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45720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Missão: pitch 16+/18+ → Livre ou 10.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Gere um desafio procedural no wizard.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Reescreva visual / narrativa / cura / inimigos.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Preserve o loop-core. Finalize com Patch Note.</a:t>
            </a:r>
          </a:p>
        </p:txBody>
      </p:sp>
      <p:pic>
        <p:nvPicPr>
          <p:cNvPr id="9" name="Picture 8" descr="doom-eter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234440"/>
            <a:ext cx="2468880" cy="27432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47320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AB9C8A"/>
                </a:solidFill>
                <a:latin typeface="Cinzel"/>
                <a:cs typeface="Cinzel"/>
                <a:ea typeface="Cinzel"/>
              </a:rPr>
              <a:t>AULA 05 | MÓDULO 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7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256032"/>
            <a:ext cx="640080" cy="384048"/>
          </a:xfrm>
          <a:prstGeom prst="roundRect">
            <a:avLst/>
          </a:prstGeom>
          <a:solidFill>
            <a:srgbClr val="7A1F2B"/>
          </a:solidFill>
          <a:ln w="12700">
            <a:solidFill>
              <a:srgbClr val="CFA7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256032"/>
            <a:ext cx="74980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Pitches da mesa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051560"/>
            <a:ext cx="3977639" cy="1371600"/>
          </a:xfrm>
          <a:prstGeom prst="roundRect">
            <a:avLst/>
          </a:prstGeom>
          <a:solidFill>
            <a:srgbClr val="18121A"/>
          </a:solidFill>
          <a:ln w="15875">
            <a:solidFill>
              <a:srgbClr val="7A5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280160"/>
            <a:ext cx="3566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CFA759"/>
                </a:solidFill>
                <a:latin typeface="Cinzel"/>
                <a:cs typeface="Cinzel"/>
                <a:ea typeface="Cinzel"/>
              </a:rPr>
              <a:t>NECRÓPOLE VIRAL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Gore / infecção → robôs, faíscas, baterias.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09159" y="1051560"/>
            <a:ext cx="3977639" cy="1371600"/>
          </a:xfrm>
          <a:prstGeom prst="roundRect">
            <a:avLst/>
          </a:prstGeom>
          <a:solidFill>
            <a:srgbClr val="18121A"/>
          </a:solidFill>
          <a:ln w="15875">
            <a:solidFill>
              <a:srgbClr val="7A5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37759" y="1280160"/>
            <a:ext cx="3566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CFA759"/>
                </a:solidFill>
                <a:latin typeface="Cinzel"/>
                <a:cs typeface="Cinzel"/>
                <a:ea typeface="Cinzel"/>
              </a:rPr>
              <a:t>SOMBRA DO CONTRATO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Ritual / sangue → silhuetas e pacto simbólico.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606039"/>
            <a:ext cx="3977639" cy="1371600"/>
          </a:xfrm>
          <a:prstGeom prst="roundRect">
            <a:avLst/>
          </a:prstGeom>
          <a:solidFill>
            <a:srgbClr val="18121A"/>
          </a:solidFill>
          <a:ln w="15875">
            <a:solidFill>
              <a:srgbClr val="7A5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834639"/>
            <a:ext cx="3566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CFA759"/>
                </a:solidFill>
                <a:latin typeface="Cinzel"/>
                <a:cs typeface="Cinzel"/>
                <a:ea typeface="Cinzel"/>
              </a:rPr>
              <a:t>APP DE DESTINOS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Nudez / sexo → afeto sem nudez explícita.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09159" y="2606039"/>
            <a:ext cx="3977639" cy="1371600"/>
          </a:xfrm>
          <a:prstGeom prst="roundRect">
            <a:avLst/>
          </a:prstGeom>
          <a:solidFill>
            <a:srgbClr val="18121A"/>
          </a:solidFill>
          <a:ln w="15875">
            <a:solidFill>
              <a:srgbClr val="7A5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37759" y="2834639"/>
            <a:ext cx="3566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CFA759"/>
                </a:solidFill>
                <a:latin typeface="Cinzel"/>
                <a:cs typeface="Cinzel"/>
                <a:ea typeface="Cinzel"/>
              </a:rPr>
              <a:t>PORÃO DAS HORAS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Drogas realistas → amuleto / luz ritual.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7320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AB9C8A"/>
                </a:solidFill>
                <a:latin typeface="Cinzel"/>
                <a:cs typeface="Cinzel"/>
                <a:ea typeface="Cinzel"/>
              </a:rPr>
              <a:t>AULA 05 | MÓDULO 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7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256032"/>
            <a:ext cx="640080" cy="384048"/>
          </a:xfrm>
          <a:prstGeom prst="roundRect">
            <a:avLst/>
          </a:prstGeom>
          <a:solidFill>
            <a:srgbClr val="7A1F2B"/>
          </a:solidFill>
          <a:ln w="12700">
            <a:solidFill>
              <a:srgbClr val="CFA7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256032"/>
            <a:ext cx="74980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Checklist do artefato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005840"/>
            <a:ext cx="8138160" cy="411480"/>
          </a:xfrm>
          <a:prstGeom prst="roundRect">
            <a:avLst/>
          </a:prstGeom>
          <a:solidFill>
            <a:srgbClr val="18121A"/>
          </a:solidFill>
          <a:ln w="15875">
            <a:solidFill>
              <a:srgbClr val="7A5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060704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□  Participei do ClassInd-dle com pelo menos um voto.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81328"/>
            <a:ext cx="8138160" cy="411480"/>
          </a:xfrm>
          <a:prstGeom prst="roundRect">
            <a:avLst/>
          </a:prstGeom>
          <a:solidFill>
            <a:srgbClr val="18121A"/>
          </a:solidFill>
          <a:ln w="15875">
            <a:solidFill>
              <a:srgbClr val="7A5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536192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□  Anotei 1 insight (detalhe que mudou a faixa).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956816"/>
            <a:ext cx="8138160" cy="411480"/>
          </a:xfrm>
          <a:prstGeom prst="roundRect">
            <a:avLst/>
          </a:prstGeom>
          <a:solidFill>
            <a:srgbClr val="18121A"/>
          </a:solidFill>
          <a:ln w="15875">
            <a:solidFill>
              <a:srgbClr val="7A5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011680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□  Patch Note: original → higienizado → argumentos → L ou 10.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432304"/>
            <a:ext cx="8138160" cy="411480"/>
          </a:xfrm>
          <a:prstGeom prst="roundRect">
            <a:avLst/>
          </a:prstGeom>
          <a:solidFill>
            <a:srgbClr val="18121A"/>
          </a:solidFill>
          <a:ln w="15875">
            <a:solidFill>
              <a:srgbClr val="7A5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487168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□  Mecânica-core preservada (o verbo do jogo).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907792"/>
            <a:ext cx="8138160" cy="411480"/>
          </a:xfrm>
          <a:prstGeom prst="roundRect">
            <a:avLst/>
          </a:prstGeom>
          <a:solidFill>
            <a:srgbClr val="18121A"/>
          </a:solidFill>
          <a:ln w="15875">
            <a:solidFill>
              <a:srgbClr val="7A5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962656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□  Anotações + síntese enviadas na página da aula.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383280"/>
            <a:ext cx="8138160" cy="411480"/>
          </a:xfrm>
          <a:prstGeom prst="roundRect">
            <a:avLst/>
          </a:prstGeom>
          <a:solidFill>
            <a:srgbClr val="18121A"/>
          </a:solidFill>
          <a:ln w="15875">
            <a:solidFill>
              <a:srgbClr val="7A5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438144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□  Código no Altar quando o Mestre liberar.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7320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AB9C8A"/>
                </a:solidFill>
                <a:latin typeface="Cinzel"/>
                <a:cs typeface="Cinzel"/>
                <a:ea typeface="Cinzel"/>
              </a:rPr>
              <a:t>AULA 05 | MÓDULO 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7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256032"/>
            <a:ext cx="640080" cy="384048"/>
          </a:xfrm>
          <a:prstGeom prst="roundRect">
            <a:avLst/>
          </a:prstGeom>
          <a:solidFill>
            <a:srgbClr val="7A1F2B"/>
          </a:solidFill>
          <a:ln w="12700">
            <a:solidFill>
              <a:srgbClr val="CFA7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256032"/>
            <a:ext cx="74980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Fechamento e Altar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143000"/>
            <a:ext cx="8138160" cy="2880360"/>
          </a:xfrm>
          <a:prstGeom prst="roundRect">
            <a:avLst/>
          </a:prstGeom>
          <a:solidFill>
            <a:srgbClr val="18121A"/>
          </a:solidFill>
          <a:ln w="15875">
            <a:solidFill>
              <a:srgbClr val="7A5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417320"/>
            <a:ext cx="7498079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</a:pPr>
            <a:r>
              <a:rPr sz="15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FIM DA AULA 05: GUARDIÃO DA FAIXA</a:t>
            </a:r>
          </a:p>
          <a:p>
            <a:pPr algn="ctr">
              <a:spcAft>
                <a:spcPts val="1000"/>
              </a:spcAft>
            </a:pPr>
            <a:r>
              <a:rPr sz="14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Higienizar é redesenhar o que o jogador vê e sente — não apagar o jogo.</a:t>
            </a:r>
          </a:p>
          <a:p>
            <a:pPr algn="ctr">
              <a:spcAft>
                <a:spcPts val="1200"/>
              </a:spcAft>
            </a:pPr>
            <a:r>
              <a:rPr sz="1300" b="0">
                <a:solidFill>
                  <a:srgbClr val="AB9C8A"/>
                </a:solidFill>
                <a:latin typeface="Georgia"/>
                <a:cs typeface="Georgia"/>
                <a:ea typeface="Georgia"/>
              </a:rPr>
              <a:t>Envie o Patch Note pelo wizard. Código ao Altar quando o Mestre liberar.</a:t>
            </a:r>
          </a:p>
          <a:p>
            <a:pPr algn="ctr">
              <a:spcAft>
                <a:spcPts val="600"/>
              </a:spcAft>
            </a:pPr>
            <a:r>
              <a:rPr sz="1200" b="0">
                <a:solidFill>
                  <a:srgbClr val="AB9C8A"/>
                </a:solidFill>
                <a:latin typeface="Georgia"/>
                <a:cs typeface="Georgia"/>
                <a:ea typeface="Georgia"/>
              </a:rPr>
              <a:t>Capas: assets/classind-dle/covers/INVENTARIO.md · diagrama de faixas já nos slides.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320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AB9C8A"/>
                </a:solidFill>
                <a:latin typeface="Cinzel"/>
                <a:cs typeface="Cinzel"/>
                <a:ea typeface="Cinzel"/>
              </a:rPr>
              <a:t>AULA 05 | MÓDULO 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2026-09-03T14:44:26Z</dcterms:created>
  <dcterms:modified xsi:type="dcterms:W3CDTF">2026-09-03T14:44:26Z</dcterms:modified>
</cp:coreProperties>
</file>